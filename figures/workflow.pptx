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4630400" cy="658368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 Study workflow and separation of data roles.</a:t>
            </a:r>
          </a:p>
          <a:p/>
          <a:p>
            <a:r>
              <a:t>The English labels, values and workflow topology are retained from Figure 1 of the supplied manuscript. The equations retain the original figure's update notation. The mathematical minus and plus/minus signs are not punctuation dashes.</a:t>
            </a:r>
          </a:p>
          <a:p/>
          <a:p>
            <a:r>
              <a:t>All eight boxes, every label, and all seven connectors are native editable PowerPoint objects. Connector endpoints are attached to their shapes.</a:t>
            </a:r>
          </a:p>
          <a:p/>
          <a:p>
            <a:r>
              <a:t>Content source: Figure 1 and its caption on page 4 of Stable_predictions_can_hide_substantial_temporal_changes_in_a_high_accuracy_spiking_speech_classifier.pdf.</a:t>
            </a:r>
          </a:p>
          <a:p/>
          <a:p>
            <a:r>
              <a:t>Palette source: dikmenPalette() in the supplied figure-style file, lines 422 to 434, using exact dikmencolors.sty RGB definitions.</a:t>
            </a:r>
          </a:p>
          <a:p>
            <a:r>
              <a:t>Cobalt #1F63A8</a:t>
            </a:r>
          </a:p>
          <a:p>
            <a:r>
              <a:t>Ember #E1712F</a:t>
            </a:r>
          </a:p>
          <a:p>
            <a:r>
              <a:t>Fern #3B9A5B</a:t>
            </a:r>
          </a:p>
          <a:p>
            <a:r>
              <a:t>Amethyst #8151A1</a:t>
            </a:r>
          </a:p>
          <a:p>
            <a:r>
              <a:t>Teal #1B9AA6</a:t>
            </a:r>
          </a:p>
          <a:p>
            <a:r>
              <a:t>Crimson #BE3B3B</a:t>
            </a:r>
          </a:p>
          <a:p>
            <a:r>
              <a:t>Amber #E4B23C</a:t>
            </a:r>
          </a:p>
          <a:p>
            <a:r>
              <a:t>Slate #4B6584</a:t>
            </a:r>
          </a:p>
          <a:p>
            <a:r>
              <a:t>Ink #23272E</a:t>
            </a:r>
          </a:p>
          <a:p>
            <a:r>
              <a:t>Graphite #767C86</a:t>
            </a:r>
          </a:p>
          <a:p>
            <a:r>
              <a:t>Mist #EBEEF2</a:t>
            </a:r>
          </a:p>
          <a:p>
            <a:r>
              <a:t>White #FFFFFF</a:t>
            </a:r>
          </a:p>
          <a:p/>
          <a:p>
            <a:r>
              <a:t>White background, flat vectors, Arial typography, no gradients or shadows. The slide is 16 by 7.2 inches. At 180 mm output width, the smallest 20 pt label is approximately 8.9 pt. No experimental identifiers are used.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17" name="Audit junction to internal audit"/>
          <p:cNvCxnSpPr>
            <a:stCxn id="10" idx="2"/>
            <a:endCxn id="9" idx="0"/>
          </p:cNvCxnSpPr>
          <p:nvPr/>
        </p:nvCxnSpPr>
        <p:spPr>
          <a:xfrm>
            <a:off x="11722608" y="4514850"/>
            <a:ext cx="1175004" cy="486918"/>
          </a:xfrm>
          <a:prstGeom prst="line">
            <a:avLst/>
          </a:prstGeom>
          <a:ln w="19685" cap="rnd">
            <a:solidFill>
              <a:srgbClr val="23272E"/>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6" name="Audit junction to decision map"/>
          <p:cNvCxnSpPr>
            <a:stCxn id="10" idx="2"/>
            <a:endCxn id="8" idx="0"/>
          </p:cNvCxnSpPr>
          <p:nvPr/>
        </p:nvCxnSpPr>
        <p:spPr>
          <a:xfrm flipH="1">
            <a:off x="9358884" y="4514850"/>
            <a:ext cx="2363724" cy="486918"/>
          </a:xfrm>
          <a:prstGeom prst="line">
            <a:avLst/>
          </a:prstGeom>
          <a:ln w="19685" cap="rnd">
            <a:solidFill>
              <a:srgbClr val="23272E"/>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5" name="Enumeration to audit junction"/>
          <p:cNvCxnSpPr>
            <a:stCxn id="6" idx="2"/>
            <a:endCxn id="10" idx="0"/>
          </p:cNvCxnSpPr>
          <p:nvPr/>
        </p:nvCxnSpPr>
        <p:spPr>
          <a:xfrm flipH="1">
            <a:off x="11722608" y="3858768"/>
            <a:ext cx="0" cy="614934"/>
          </a:xfrm>
          <a:prstGeom prst="line">
            <a:avLst/>
          </a:prstGeom>
          <a:ln w="19685" cap="rnd">
            <a:solidFill>
              <a:srgbClr val="23272E"/>
            </a:solidFill>
          </a:ln>
          <a:effectLst/>
        </p:spPr>
        <p:style>
          <a:lnRef idx="2">
            <a:schemeClr val="accent1"/>
          </a:lnRef>
          <a:fillRef idx="0">
            <a:schemeClr val="accent1"/>
          </a:fillRef>
          <a:effectRef idx="0">
            <a:schemeClr val="accent1"/>
          </a:effectRef>
          <a:fontRef idx="minor">
            <a:schemeClr val="tx1"/>
          </a:fontRef>
        </p:style>
      </p:cxnSp>
      <p:cxnSp>
        <p:nvCxnSpPr>
          <p:cNvPr id="14" name="Count transfer to exact enumeration"/>
          <p:cNvCxnSpPr>
            <a:stCxn id="5" idx="3"/>
            <a:endCxn id="6" idx="1"/>
          </p:cNvCxnSpPr>
          <p:nvPr/>
        </p:nvCxnSpPr>
        <p:spPr>
          <a:xfrm flipV="1">
            <a:off x="8631936" y="3182112"/>
            <a:ext cx="475488" cy="0"/>
          </a:xfrm>
          <a:prstGeom prst="line">
            <a:avLst/>
          </a:prstGeom>
          <a:ln w="19685" cap="rnd">
            <a:solidFill>
              <a:srgbClr val="23272E"/>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3" name="Validation panel to count transfer"/>
          <p:cNvCxnSpPr>
            <a:stCxn id="4" idx="3"/>
            <a:endCxn id="5" idx="1"/>
          </p:cNvCxnSpPr>
          <p:nvPr/>
        </p:nvCxnSpPr>
        <p:spPr>
          <a:xfrm flipV="1">
            <a:off x="3364992" y="3182112"/>
            <a:ext cx="438912" cy="0"/>
          </a:xfrm>
          <a:prstGeom prst="line">
            <a:avLst/>
          </a:prstGeom>
          <a:ln w="19685" cap="rnd">
            <a:solidFill>
              <a:srgbClr val="23272E"/>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2" name="Frozen classifier to validation panel"/>
          <p:cNvCxnSpPr>
            <a:stCxn id="2" idx="2"/>
            <a:endCxn id="4" idx="0"/>
          </p:cNvCxnSpPr>
          <p:nvPr/>
        </p:nvCxnSpPr>
        <p:spPr>
          <a:xfrm flipH="1">
            <a:off x="1828800" y="1645920"/>
            <a:ext cx="0" cy="859536"/>
          </a:xfrm>
          <a:prstGeom prst="line">
            <a:avLst/>
          </a:prstGeom>
          <a:ln w="19685" cap="rnd">
            <a:solidFill>
              <a:srgbClr val="23272E"/>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1" name="Frozen classifier to official test"/>
          <p:cNvCxnSpPr>
            <a:stCxn id="2" idx="3"/>
            <a:endCxn id="3" idx="1"/>
          </p:cNvCxnSpPr>
          <p:nvPr/>
        </p:nvCxnSpPr>
        <p:spPr>
          <a:xfrm flipV="1">
            <a:off x="3364992" y="969264"/>
            <a:ext cx="731520" cy="0"/>
          </a:xfrm>
          <a:prstGeom prst="line">
            <a:avLst/>
          </a:prstGeom>
          <a:ln w="19685" cap="rnd">
            <a:solidFill>
              <a:srgbClr val="23272E"/>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 name="Frozen classifier"/>
          <p:cNvSpPr/>
          <p:nvPr/>
        </p:nvSpPr>
        <p:spPr>
          <a:xfrm>
            <a:off x="292608" y="292608"/>
            <a:ext cx="3072384" cy="1353312"/>
          </a:xfrm>
          <a:prstGeom prst="roundRect">
            <a:avLst>
              <a:gd name="adj" fmla="val 3500"/>
            </a:avLst>
          </a:prstGeom>
          <a:solidFill>
            <a:srgbClr val="1F63A8"/>
          </a:solidFill>
          <a:ln w="20955">
            <a:solidFill>
              <a:srgbClr val="1F63A8"/>
            </a:solidFill>
          </a:ln>
          <a:effectLst/>
        </p:spPr>
        <p:style>
          <a:lnRef idx="1">
            <a:schemeClr val="accent1"/>
          </a:lnRef>
          <a:fillRef idx="3">
            <a:schemeClr val="accent1"/>
          </a:fillRef>
          <a:effectRef idx="0">
            <a:schemeClr val="accent1"/>
          </a:effectRef>
          <a:fontRef idx="minor">
            <a:schemeClr val="lt1"/>
          </a:fontRef>
        </p:style>
        <p:txBody>
          <a:bodyPr rtlCol="0" anchor="ctr" wrap="none" lIns="128016" rIns="128016" tIns="96012" bIns="96012">
            <a:noAutofit/>
          </a:bodyPr>
          <a:lstStyle/>
          <a:p>
            <a:pPr algn="ctr">
              <a:lnSpc>
                <a:spcPct val="104000"/>
              </a:lnSpc>
              <a:spcBef>
                <a:spcPts val="0"/>
              </a:spcBef>
              <a:spcAft>
                <a:spcPts val="900"/>
              </a:spcAft>
            </a:pPr>
            <a:r>
              <a:rPr sz="2700" b="1" lang="en-US">
                <a:solidFill>
                  <a:srgbClr val="FFFFFF"/>
                </a:solidFill>
                <a:latin typeface="Arial"/>
              </a:rPr>
              <a:t>Frozen SpikeSCR</a:t>
            </a:r>
          </a:p>
          <a:p>
            <a:pPr algn="ctr">
              <a:lnSpc>
                <a:spcPct val="104000"/>
              </a:lnSpc>
              <a:spcBef>
                <a:spcPts val="0"/>
              </a:spcBef>
              <a:spcAft>
                <a:spcPts val="0"/>
              </a:spcAft>
            </a:pPr>
            <a:r>
              <a:rPr sz="2200" b="0" lang="en-US">
                <a:solidFill>
                  <a:srgbClr val="FFFFFF"/>
                </a:solidFill>
                <a:latin typeface="Arial"/>
              </a:rPr>
              <a:t>seed 312, epoch 282</a:t>
            </a:r>
          </a:p>
        </p:txBody>
      </p:sp>
      <p:sp>
        <p:nvSpPr>
          <p:cNvPr id="3" name="Official test benchmark only"/>
          <p:cNvSpPr/>
          <p:nvPr/>
        </p:nvSpPr>
        <p:spPr>
          <a:xfrm>
            <a:off x="4096512" y="292608"/>
            <a:ext cx="4160520" cy="1353312"/>
          </a:xfrm>
          <a:prstGeom prst="roundRect">
            <a:avLst>
              <a:gd name="adj" fmla="val 3500"/>
            </a:avLst>
          </a:prstGeom>
          <a:solidFill>
            <a:srgbClr val="FFFFFF"/>
          </a:solidFill>
          <a:ln w="20955">
            <a:solidFill>
              <a:srgbClr val="4B6584"/>
            </a:solidFill>
          </a:ln>
          <a:effectLst/>
        </p:spPr>
        <p:style>
          <a:lnRef idx="1">
            <a:schemeClr val="accent1"/>
          </a:lnRef>
          <a:fillRef idx="3">
            <a:schemeClr val="accent1"/>
          </a:fillRef>
          <a:effectRef idx="0">
            <a:schemeClr val="accent1"/>
          </a:effectRef>
          <a:fontRef idx="minor">
            <a:schemeClr val="lt1"/>
          </a:fontRef>
        </p:style>
        <p:txBody>
          <a:bodyPr rtlCol="0" anchor="ctr" wrap="none" lIns="128016" rIns="128016" tIns="96012" bIns="96012">
            <a:noAutofit/>
          </a:bodyPr>
          <a:lstStyle/>
          <a:p>
            <a:pPr algn="ctr">
              <a:lnSpc>
                <a:spcPct val="104000"/>
              </a:lnSpc>
              <a:spcBef>
                <a:spcPts val="0"/>
              </a:spcBef>
              <a:spcAft>
                <a:spcPts val="700"/>
              </a:spcAft>
            </a:pPr>
            <a:r>
              <a:rPr sz="2500" b="1" lang="en-US">
                <a:solidFill>
                  <a:srgbClr val="23272E"/>
                </a:solidFill>
                <a:latin typeface="Arial"/>
              </a:rPr>
              <a:t>Official SSC test</a:t>
            </a:r>
          </a:p>
          <a:p>
            <a:pPr algn="ctr">
              <a:lnSpc>
                <a:spcPct val="104000"/>
              </a:lnSpc>
              <a:spcBef>
                <a:spcPts val="0"/>
              </a:spcBef>
              <a:spcAft>
                <a:spcPts val="300"/>
              </a:spcAft>
            </a:pPr>
            <a:r>
              <a:rPr sz="2200" b="0" lang="en-US">
                <a:solidFill>
                  <a:srgbClr val="23272E"/>
                </a:solidFill>
                <a:latin typeface="Arial"/>
              </a:rPr>
              <a:t>84.6188%  (benchmark only)</a:t>
            </a:r>
          </a:p>
          <a:p>
            <a:pPr algn="ctr">
              <a:lnSpc>
                <a:spcPct val="104000"/>
              </a:lnSpc>
              <a:spcBef>
                <a:spcPts val="0"/>
              </a:spcBef>
              <a:spcAft>
                <a:spcPts val="0"/>
              </a:spcAft>
            </a:pPr>
            <a:r>
              <a:rPr sz="2000" b="0" lang="en-US">
                <a:solidFill>
                  <a:srgbClr val="767C86"/>
                </a:solidFill>
                <a:latin typeface="Arial"/>
              </a:rPr>
              <a:t>no perturbation / no tuning</a:t>
            </a:r>
          </a:p>
        </p:txBody>
      </p:sp>
      <p:sp>
        <p:nvSpPr>
          <p:cNvPr id="4" name="Frozen validation panel"/>
          <p:cNvSpPr/>
          <p:nvPr/>
        </p:nvSpPr>
        <p:spPr>
          <a:xfrm>
            <a:off x="292608" y="2505456"/>
            <a:ext cx="3072384" cy="1353312"/>
          </a:xfrm>
          <a:prstGeom prst="roundRect">
            <a:avLst>
              <a:gd name="adj" fmla="val 3500"/>
            </a:avLst>
          </a:prstGeom>
          <a:solidFill>
            <a:srgbClr val="FFFFFF"/>
          </a:solidFill>
          <a:ln w="20955">
            <a:solidFill>
              <a:srgbClr val="1F63A8"/>
            </a:solidFill>
          </a:ln>
          <a:effectLst/>
        </p:spPr>
        <p:style>
          <a:lnRef idx="1">
            <a:schemeClr val="accent1"/>
          </a:lnRef>
          <a:fillRef idx="3">
            <a:schemeClr val="accent1"/>
          </a:fillRef>
          <a:effectRef idx="0">
            <a:schemeClr val="accent1"/>
          </a:effectRef>
          <a:fontRef idx="minor">
            <a:schemeClr val="lt1"/>
          </a:fontRef>
        </p:style>
        <p:txBody>
          <a:bodyPr rtlCol="0" anchor="ctr" wrap="none" lIns="128016" rIns="128016" tIns="96012" bIns="96012">
            <a:noAutofit/>
          </a:bodyPr>
          <a:lstStyle/>
          <a:p>
            <a:pPr algn="ctr">
              <a:lnSpc>
                <a:spcPct val="104000"/>
              </a:lnSpc>
              <a:spcBef>
                <a:spcPts val="0"/>
              </a:spcBef>
              <a:spcAft>
                <a:spcPts val="400"/>
              </a:spcAft>
            </a:pPr>
            <a:r>
              <a:rPr sz="2400" b="1" lang="en-US">
                <a:solidFill>
                  <a:srgbClr val="1F63A8"/>
                </a:solidFill>
                <a:latin typeface="Arial"/>
              </a:rPr>
              <a:t>100 fixed validation</a:t>
            </a:r>
          </a:p>
          <a:p>
            <a:pPr algn="ctr">
              <a:lnSpc>
                <a:spcPct val="104000"/>
              </a:lnSpc>
              <a:spcBef>
                <a:spcPts val="0"/>
              </a:spcBef>
              <a:spcAft>
                <a:spcPts val="0"/>
              </a:spcAft>
            </a:pPr>
            <a:r>
              <a:rPr sz="2400" b="1" lang="en-US">
                <a:solidFill>
                  <a:srgbClr val="1F63A8"/>
                </a:solidFill>
                <a:latin typeface="Arial"/>
              </a:rPr>
              <a:t>utterances</a:t>
            </a:r>
          </a:p>
        </p:txBody>
      </p:sp>
      <p:sp>
        <p:nvSpPr>
          <p:cNvPr id="5" name="One count adjacent bin operator"/>
          <p:cNvSpPr/>
          <p:nvPr/>
        </p:nvSpPr>
        <p:spPr>
          <a:xfrm>
            <a:off x="3803904" y="2176272"/>
            <a:ext cx="4828032" cy="2011680"/>
          </a:xfrm>
          <a:prstGeom prst="roundRect">
            <a:avLst>
              <a:gd name="adj" fmla="val 3500"/>
            </a:avLst>
          </a:prstGeom>
          <a:solidFill>
            <a:srgbClr val="EBEEF2"/>
          </a:solidFill>
          <a:ln w="23495">
            <a:solidFill>
              <a:srgbClr val="1F63A8"/>
            </a:solidFill>
          </a:ln>
          <a:effectLst/>
        </p:spPr>
        <p:style>
          <a:lnRef idx="1">
            <a:schemeClr val="accent1"/>
          </a:lnRef>
          <a:fillRef idx="3">
            <a:schemeClr val="accent1"/>
          </a:fillRef>
          <a:effectRef idx="0">
            <a:schemeClr val="accent1"/>
          </a:effectRef>
          <a:fontRef idx="minor">
            <a:schemeClr val="lt1"/>
          </a:fontRef>
        </p:style>
        <p:txBody>
          <a:bodyPr rtlCol="0" anchor="ctr" wrap="none" lIns="146304" rIns="146304" tIns="96012" bIns="96012">
            <a:noAutofit/>
          </a:bodyPr>
          <a:lstStyle/>
          <a:p>
            <a:pPr algn="ctr">
              <a:lnSpc>
                <a:spcPct val="104000"/>
              </a:lnSpc>
              <a:spcBef>
                <a:spcPts val="0"/>
              </a:spcBef>
              <a:spcAft>
                <a:spcPts val="1100"/>
              </a:spcAft>
            </a:pPr>
            <a:r>
              <a:rPr sz="2200" b="1" lang="en-US">
                <a:solidFill>
                  <a:srgbClr val="1F63A8"/>
                </a:solidFill>
                <a:latin typeface="Arial"/>
              </a:rPr>
              <a:t>One-count adjacent-bin operator</a:t>
            </a:r>
          </a:p>
          <a:p>
            <a:pPr algn="ctr">
              <a:lnSpc>
                <a:spcPct val="104000"/>
              </a:lnSpc>
              <a:spcBef>
                <a:spcPts val="0"/>
              </a:spcBef>
              <a:spcAft>
                <a:spcPts val="500"/>
              </a:spcAft>
            </a:pPr>
            <a:r>
              <a:rPr sz="2200" b="0" lang="en-US">
                <a:solidFill>
                  <a:srgbClr val="23272E"/>
                </a:solidFill>
                <a:latin typeface="Arial"/>
              </a:rPr>
              <a:t>X(t,f) = X(t,f) − 1</a:t>
            </a:r>
          </a:p>
          <a:p>
            <a:pPr algn="ctr">
              <a:lnSpc>
                <a:spcPct val="104000"/>
              </a:lnSpc>
              <a:spcBef>
                <a:spcPts val="0"/>
              </a:spcBef>
              <a:spcAft>
                <a:spcPts val="700"/>
              </a:spcAft>
            </a:pPr>
            <a:r>
              <a:rPr sz="2200" b="0" lang="en-US">
                <a:solidFill>
                  <a:srgbClr val="23272E"/>
                </a:solidFill>
                <a:latin typeface="Arial"/>
              </a:rPr>
              <a:t>X(t±1,f) = X(t±1,f) + 1</a:t>
            </a:r>
          </a:p>
          <a:p>
            <a:pPr algn="ctr">
              <a:lnSpc>
                <a:spcPct val="104000"/>
              </a:lnSpc>
              <a:spcBef>
                <a:spcPts val="0"/>
              </a:spcBef>
              <a:spcAft>
                <a:spcPts val="0"/>
              </a:spcAft>
            </a:pPr>
            <a:r>
              <a:rPr sz="2050" b="0" lang="en-US">
                <a:solidFill>
                  <a:srgbClr val="767C86"/>
                </a:solidFill>
                <a:latin typeface="Arial"/>
              </a:rPr>
              <a:t>same feature, fixed horizon</a:t>
            </a:r>
          </a:p>
        </p:txBody>
      </p:sp>
      <p:sp>
        <p:nvSpPr>
          <p:cNvPr id="6" name="Exact singleton enumeration"/>
          <p:cNvSpPr/>
          <p:nvPr/>
        </p:nvSpPr>
        <p:spPr>
          <a:xfrm>
            <a:off x="9107424" y="2505456"/>
            <a:ext cx="5230368" cy="1353312"/>
          </a:xfrm>
          <a:prstGeom prst="roundRect">
            <a:avLst>
              <a:gd name="adj" fmla="val 3500"/>
            </a:avLst>
          </a:prstGeom>
          <a:solidFill>
            <a:srgbClr val="FFFFFF"/>
          </a:solidFill>
          <a:ln w="23495">
            <a:solidFill>
              <a:srgbClr val="1B9AA6"/>
            </a:solidFill>
          </a:ln>
          <a:effectLst/>
        </p:spPr>
        <p:style>
          <a:lnRef idx="1">
            <a:schemeClr val="accent1"/>
          </a:lnRef>
          <a:fillRef idx="3">
            <a:schemeClr val="accent1"/>
          </a:fillRef>
          <a:effectRef idx="0">
            <a:schemeClr val="accent1"/>
          </a:effectRef>
          <a:fontRef idx="minor">
            <a:schemeClr val="lt1"/>
          </a:fontRef>
        </p:style>
        <p:txBody>
          <a:bodyPr rtlCol="0" anchor="ctr" wrap="none" lIns="128016" rIns="128016" tIns="96012" bIns="96012">
            <a:noAutofit/>
          </a:bodyPr>
          <a:lstStyle/>
          <a:p>
            <a:pPr algn="ctr">
              <a:lnSpc>
                <a:spcPct val="104000"/>
              </a:lnSpc>
              <a:spcBef>
                <a:spcPts val="0"/>
              </a:spcBef>
              <a:spcAft>
                <a:spcPts val="800"/>
              </a:spcAft>
            </a:pPr>
            <a:r>
              <a:rPr sz="2500" b="1" lang="en-US">
                <a:solidFill>
                  <a:srgbClr val="23272E"/>
                </a:solidFill>
                <a:latin typeface="Arial"/>
              </a:rPr>
              <a:t>Exact singleton enumeration</a:t>
            </a:r>
          </a:p>
          <a:p>
            <a:pPr algn="ctr">
              <a:lnSpc>
                <a:spcPct val="104000"/>
              </a:lnSpc>
              <a:spcBef>
                <a:spcPts val="0"/>
              </a:spcBef>
              <a:spcAft>
                <a:spcPts val="0"/>
              </a:spcAft>
            </a:pPr>
            <a:r>
              <a:rPr sz="2700" b="0" lang="en-US">
                <a:solidFill>
                  <a:srgbClr val="1B9AA6"/>
                </a:solidFill>
                <a:latin typeface="Arial"/>
              </a:rPr>
              <a:t>725,070 unique candidates</a:t>
            </a:r>
          </a:p>
        </p:txBody>
      </p:sp>
      <p:sp>
        <p:nvSpPr>
          <p:cNvPr id="7" name="Scope statement"/>
          <p:cNvSpPr/>
          <p:nvPr/>
        </p:nvSpPr>
        <p:spPr>
          <a:xfrm>
            <a:off x="292608" y="5001768"/>
            <a:ext cx="6583680" cy="1289304"/>
          </a:xfrm>
          <a:prstGeom prst="roundRect">
            <a:avLst>
              <a:gd name="adj" fmla="val 3500"/>
            </a:avLst>
          </a:prstGeom>
          <a:solidFill>
            <a:srgbClr val="EBEEF2"/>
          </a:solidFill>
          <a:ln w="13970">
            <a:solidFill>
              <a:srgbClr val="767C86"/>
            </a:solidFill>
          </a:ln>
          <a:effectLst/>
        </p:spPr>
        <p:style>
          <a:lnRef idx="1">
            <a:schemeClr val="accent1"/>
          </a:lnRef>
          <a:fillRef idx="3">
            <a:schemeClr val="accent1"/>
          </a:fillRef>
          <a:effectRef idx="0">
            <a:schemeClr val="accent1"/>
          </a:effectRef>
          <a:fontRef idx="minor">
            <a:schemeClr val="lt1"/>
          </a:fontRef>
        </p:style>
        <p:txBody>
          <a:bodyPr rtlCol="0" anchor="ctr" wrap="none" lIns="128016" rIns="128016" tIns="96012" bIns="96012">
            <a:noAutofit/>
          </a:bodyPr>
          <a:lstStyle/>
          <a:p>
            <a:pPr algn="ctr">
              <a:lnSpc>
                <a:spcPct val="104000"/>
              </a:lnSpc>
              <a:spcBef>
                <a:spcPts val="0"/>
              </a:spcBef>
              <a:spcAft>
                <a:spcPts val="600"/>
              </a:spcAft>
            </a:pPr>
            <a:r>
              <a:rPr sz="2300" b="1" lang="en-US">
                <a:solidFill>
                  <a:srgbClr val="23272E"/>
                </a:solidFill>
                <a:latin typeface="Arial"/>
              </a:rPr>
              <a:t>Scope statement</a:t>
            </a:r>
          </a:p>
          <a:p>
            <a:pPr algn="ctr">
              <a:lnSpc>
                <a:spcPct val="104000"/>
              </a:lnSpc>
              <a:spcBef>
                <a:spcPts val="0"/>
              </a:spcBef>
              <a:spcAft>
                <a:spcPts val="200"/>
              </a:spcAft>
            </a:pPr>
            <a:r>
              <a:rPr sz="2000" b="0" lang="en-US">
                <a:solidFill>
                  <a:srgbClr val="23272E"/>
                </a:solidFill>
                <a:latin typeface="Arial"/>
              </a:rPr>
              <a:t>Complete only for the declared finite neighborhood,</a:t>
            </a:r>
          </a:p>
          <a:p>
            <a:pPr algn="ctr">
              <a:lnSpc>
                <a:spcPct val="104000"/>
              </a:lnSpc>
              <a:spcBef>
                <a:spcPts val="0"/>
              </a:spcBef>
              <a:spcAft>
                <a:spcPts val="0"/>
              </a:spcAft>
            </a:pPr>
            <a:r>
              <a:rPr sz="2000" b="0" lang="en-US">
                <a:solidFill>
                  <a:srgbClr val="23272E"/>
                </a:solidFill>
                <a:latin typeface="Arial"/>
              </a:rPr>
              <a:t>frozen panel, checkpoint, and singleton implementation.</a:t>
            </a:r>
          </a:p>
        </p:txBody>
      </p:sp>
      <p:sp>
        <p:nvSpPr>
          <p:cNvPr id="8" name="Decision map"/>
          <p:cNvSpPr/>
          <p:nvPr/>
        </p:nvSpPr>
        <p:spPr>
          <a:xfrm>
            <a:off x="7626096" y="5001768"/>
            <a:ext cx="3465576" cy="1289304"/>
          </a:xfrm>
          <a:prstGeom prst="roundRect">
            <a:avLst>
              <a:gd name="adj" fmla="val 3500"/>
            </a:avLst>
          </a:prstGeom>
          <a:solidFill>
            <a:srgbClr val="FFFFFF"/>
          </a:solidFill>
          <a:ln w="20955">
            <a:solidFill>
              <a:srgbClr val="1B9AA6"/>
            </a:solidFill>
          </a:ln>
          <a:effectLst/>
        </p:spPr>
        <p:style>
          <a:lnRef idx="1">
            <a:schemeClr val="accent1"/>
          </a:lnRef>
          <a:fillRef idx="3">
            <a:schemeClr val="accent1"/>
          </a:fillRef>
          <a:effectRef idx="0">
            <a:schemeClr val="accent1"/>
          </a:effectRef>
          <a:fontRef idx="minor">
            <a:schemeClr val="lt1"/>
          </a:fontRef>
        </p:style>
        <p:txBody>
          <a:bodyPr rtlCol="0" anchor="ctr" wrap="none" lIns="128016" rIns="128016" tIns="96012" bIns="96012">
            <a:noAutofit/>
          </a:bodyPr>
          <a:lstStyle/>
          <a:p>
            <a:pPr algn="ctr">
              <a:lnSpc>
                <a:spcPct val="104000"/>
              </a:lnSpc>
              <a:spcBef>
                <a:spcPts val="0"/>
              </a:spcBef>
              <a:spcAft>
                <a:spcPts val="600"/>
              </a:spcAft>
            </a:pPr>
            <a:r>
              <a:rPr sz="2400" b="1" lang="en-US">
                <a:solidFill>
                  <a:srgbClr val="1B9AA6"/>
                </a:solidFill>
                <a:latin typeface="Arial"/>
              </a:rPr>
              <a:t>Decision map</a:t>
            </a:r>
          </a:p>
          <a:p>
            <a:pPr algn="ctr">
              <a:lnSpc>
                <a:spcPct val="104000"/>
              </a:lnSpc>
              <a:spcBef>
                <a:spcPts val="0"/>
              </a:spcBef>
              <a:spcAft>
                <a:spcPts val="200"/>
              </a:spcAft>
            </a:pPr>
            <a:r>
              <a:rPr sz="2100" b="0" lang="en-US">
                <a:solidFill>
                  <a:srgbClr val="23272E"/>
                </a:solidFill>
                <a:latin typeface="Arial"/>
              </a:rPr>
              <a:t>preserved / adverse /</a:t>
            </a:r>
          </a:p>
          <a:p>
            <a:pPr algn="ctr">
              <a:lnSpc>
                <a:spcPct val="104000"/>
              </a:lnSpc>
              <a:spcBef>
                <a:spcPts val="0"/>
              </a:spcBef>
              <a:spcAft>
                <a:spcPts val="0"/>
              </a:spcAft>
            </a:pPr>
            <a:r>
              <a:rPr sz="2100" b="0" lang="en-US">
                <a:solidFill>
                  <a:srgbClr val="23272E"/>
                </a:solidFill>
                <a:latin typeface="Arial"/>
              </a:rPr>
              <a:t>corrective / lateral</a:t>
            </a:r>
          </a:p>
        </p:txBody>
      </p:sp>
      <p:sp>
        <p:nvSpPr>
          <p:cNvPr id="9" name="Internal audit"/>
          <p:cNvSpPr/>
          <p:nvPr/>
        </p:nvSpPr>
        <p:spPr>
          <a:xfrm>
            <a:off x="11457432" y="5001768"/>
            <a:ext cx="2880360" cy="1289304"/>
          </a:xfrm>
          <a:prstGeom prst="roundRect">
            <a:avLst>
              <a:gd name="adj" fmla="val 3500"/>
            </a:avLst>
          </a:prstGeom>
          <a:solidFill>
            <a:srgbClr val="FFFFFF"/>
          </a:solidFill>
          <a:ln w="20955">
            <a:solidFill>
              <a:srgbClr val="1B9AA6"/>
            </a:solidFill>
          </a:ln>
          <a:effectLst/>
        </p:spPr>
        <p:style>
          <a:lnRef idx="1">
            <a:schemeClr val="accent1"/>
          </a:lnRef>
          <a:fillRef idx="3">
            <a:schemeClr val="accent1"/>
          </a:fillRef>
          <a:effectRef idx="0">
            <a:schemeClr val="accent1"/>
          </a:effectRef>
          <a:fontRef idx="minor">
            <a:schemeClr val="lt1"/>
          </a:fontRef>
        </p:style>
        <p:txBody>
          <a:bodyPr rtlCol="0" anchor="ctr" wrap="none" lIns="128016" rIns="128016" tIns="96012" bIns="96012">
            <a:noAutofit/>
          </a:bodyPr>
          <a:lstStyle/>
          <a:p>
            <a:pPr algn="ctr">
              <a:lnSpc>
                <a:spcPct val="104000"/>
              </a:lnSpc>
              <a:spcBef>
                <a:spcPts val="0"/>
              </a:spcBef>
              <a:spcAft>
                <a:spcPts val="600"/>
              </a:spcAft>
            </a:pPr>
            <a:r>
              <a:rPr sz="2400" b="1" lang="en-US">
                <a:solidFill>
                  <a:srgbClr val="1B9AA6"/>
                </a:solidFill>
                <a:latin typeface="Arial"/>
              </a:rPr>
              <a:t>Internal audit</a:t>
            </a:r>
          </a:p>
          <a:p>
            <a:pPr algn="ctr">
              <a:lnSpc>
                <a:spcPct val="104000"/>
              </a:lnSpc>
              <a:spcBef>
                <a:spcPts val="0"/>
              </a:spcBef>
              <a:spcAft>
                <a:spcPts val="200"/>
              </a:spcAft>
            </a:pPr>
            <a:r>
              <a:rPr sz="2100" b="0" lang="en-US">
                <a:solidFill>
                  <a:srgbClr val="23272E"/>
                </a:solidFill>
                <a:latin typeface="Arial"/>
              </a:rPr>
              <a:t>7 boundaries</a:t>
            </a:r>
          </a:p>
          <a:p>
            <a:pPr algn="ctr">
              <a:lnSpc>
                <a:spcPct val="104000"/>
              </a:lnSpc>
              <a:spcBef>
                <a:spcPts val="0"/>
              </a:spcBef>
              <a:spcAft>
                <a:spcPts val="0"/>
              </a:spcAft>
            </a:pPr>
            <a:r>
              <a:rPr sz="2000" b="0" lang="en-US">
                <a:solidFill>
                  <a:srgbClr val="23272E"/>
                </a:solidFill>
                <a:latin typeface="Arial"/>
              </a:rPr>
              <a:t>trace + replacement</a:t>
            </a:r>
          </a:p>
        </p:txBody>
      </p:sp>
      <p:sp>
        <p:nvSpPr>
          <p:cNvPr id="10" name="Audit branch junction"/>
          <p:cNvSpPr/>
          <p:nvPr/>
        </p:nvSpPr>
        <p:spPr>
          <a:xfrm>
            <a:off x="11702034" y="4473702"/>
            <a:ext cx="41148" cy="41148"/>
          </a:xfrm>
          <a:prstGeom prst="ellipse">
            <a:avLst/>
          </a:prstGeom>
          <a:solidFill>
            <a:srgbClr val="2327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Dikmen color palette">
      <a:dk1>
        <a:srgbClr val="23272E"/>
      </a:dk1>
      <a:lt1>
        <a:srgbClr val="FFFFFF"/>
      </a:lt1>
      <a:dk2>
        <a:srgbClr val="767C86"/>
      </a:dk2>
      <a:lt2>
        <a:srgbClr val="EBEEF2"/>
      </a:lt2>
      <a:accent1>
        <a:srgbClr val="1F63A8"/>
      </a:accent1>
      <a:accent2>
        <a:srgbClr val="E1712F"/>
      </a:accent2>
      <a:accent3>
        <a:srgbClr val="3B9A5B"/>
      </a:accent3>
      <a:accent4>
        <a:srgbClr val="8151A1"/>
      </a:accent4>
      <a:accent5>
        <a:srgbClr val="1B9AA6"/>
      </a:accent5>
      <a:accent6>
        <a:srgbClr val="BE3B3B"/>
      </a:accent6>
      <a:hlink>
        <a:srgbClr val="E4B23C"/>
      </a:hlink>
      <a:folHlink>
        <a:srgbClr val="4B6584"/>
      </a:folHlink>
    </a:clrScheme>
    <a:fontScheme name="Arial">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 1 Study workflow and separation of data roles</dc:title>
  <dc:subject>Editable Figure 1 for the spiking speech classifier manuscript</dc:subject>
  <dc:creator>Ismail Can Dikmen</dc:creator>
  <cp:keywords>Figure 1, SpikeSCR, SSC, Dikmen color palette</cp:keywords>
  <dc:description>Editable native PowerPoint shapes, text, and attached connectors.</dc:description>
  <cp:lastModifiedBy>Steve Canny</cp:lastModifiedBy>
  <cp:revision>1</cp:revision>
  <dcterms:created xsi:type="dcterms:W3CDTF">2013-01-27T09:14:16Z</dcterms:created>
  <dcterms:modified xsi:type="dcterms:W3CDTF">2013-01-27T09:15:58Z</dcterms:modified>
  <cp:category/>
</cp:coreProperties>
</file>